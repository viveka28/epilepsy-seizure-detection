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7"/>
    <p:sldId id="260" r:id="rId6"/>
    <p:sldId id="262" r:id="rId8"/>
    <p:sldId id="263" r:id="rId9"/>
    <p:sldId id="266" r:id="rId17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  <Relationship Id="rId17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/Relationships>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12161520" cy="0"/>
          </a:xfrm>
          <a:prstGeom prst="line">
            <a:avLst/>
          </a:prstGeom>
          <a:noFill/>
          <a:ln w="12700">
            <a:solidFill>
              <a:srgbClr val="13C4A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12161520" cy="0"/>
          </a:xfrm>
          <a:prstGeom prst="line">
            <a:avLst/>
          </a:prstGeom>
          <a:noFill/>
          <a:ln w="12700">
            <a:solidFill>
              <a:srgbClr val="13C4A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75504"/>
            <a:ext cx="12161520" cy="0"/>
          </a:xfrm>
          <a:prstGeom prst="line">
            <a:avLst/>
          </a:prstGeom>
          <a:noFill/>
          <a:ln w="12700">
            <a:solidFill>
              <a:srgbClr val="13C4A3">
                <a:alpha val="14000"/>
              </a:srgbClr>
            </a:solidFill>
            <a:prstDash val="solid"/>
          </a:ln>
        </p:spPr>
      </p:sp>
      <p:pic>
        <p:nvPicPr>
          <p:cNvPr id="5" name="Image 0" descr="ppt_assets/icon_wave_13C4A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EPILEPSY SEIZURE DETECTION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Deep Learning Pipeline for Scalp EEG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246120"/>
            <a:ext cx="1463040" cy="36576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3474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CHB-MIT Scalp EEG Database  •  1D CNN  •  SHAP Explainability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300000"/>
            <a:ext cx="105156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Wasnik Aishwary Manoj (23115111)  •  Vivek Anand (23115109)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620000"/>
            <a:ext cx="10515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Dr. Bunil Kumar Balbantaray</a:t>
            </a:r>
            <a:endParaRPr lang="en-US" sz="1200" i="1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— Computer Science &amp; Engineering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Technology, Raipur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MATTERS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Seizures are unpredictable — detection needs to be automatic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8DA9C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286000"/>
            <a:ext cx="822960" cy="8229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pt_assets/icon_hospital_13C4A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24505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291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50M+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 live with epilepsy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51960" y="192024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8DA9C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32120" y="2286000"/>
            <a:ext cx="822960" cy="8229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ppt_assets/icon_doctor_13C4A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245059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51960" y="3291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EEG monitoring is needed to catch seizures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192024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8DA9C4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1A1A1A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35440" y="2286000"/>
            <a:ext cx="822960" cy="8229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ppt_assets/icon_eye_13C4A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45059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955280" y="3291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3"/>
          <p:cNvSpPr txBox="1"/>
          <p:nvPr/>
        </p:nvSpPr>
        <p:spPr>
          <a:xfrm>
            <a:off x="818388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alerts a clinician can trust without explanation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full pipeline — from raw EEG to a seizure prediction — with an explainability layer so a clinician can see which channels and moments drove each call.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CHB-MIT Scalp EEG Database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PhysioNet  •  Pediatric epilepsy patients  •  Continuous scalp EEG recordings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81A33"/>
          </a:solidFill>
          <a:ln w="9525">
            <a:solidFill>
              <a:srgbClr val="13C4A3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214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C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16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channels per recording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81A33"/>
          </a:solidFill>
          <a:ln w="9525">
            <a:solidFill>
              <a:srgbClr val="13C4A3">
                <a:alpha val="4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21214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C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 Hz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816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sampling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0116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81A33"/>
          </a:solidFill>
          <a:ln w="9525">
            <a:solidFill>
              <a:srgbClr val="13C4A3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1214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C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816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processed so far (of 23)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81A33"/>
          </a:solidFill>
          <a:ln w="9525">
            <a:solidFill>
              <a:srgbClr val="13C4A3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673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C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315,686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462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4-second windows built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36576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81A33"/>
          </a:solidFill>
          <a:ln w="9525">
            <a:solidFill>
              <a:srgbClr val="13C4A3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37673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C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0.27%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462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windows are true seizure activity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36576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81A33"/>
          </a:solidFill>
          <a:ln w="9525">
            <a:solidFill>
              <a:srgbClr val="13C4A3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37673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C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843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462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windows across all subjects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0.27% seizure rate is the central challenge of this project — a severe class imbalance that shaped nearly every design decision downstream.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signal to explainable prediction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2377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1580" y="237744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pt_assets/icon_wave_13C4A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596" y="25054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EDF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5204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23-channel EEG, loaded via mne-python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70150" y="3191256"/>
            <a:ext cx="197510" cy="201168"/>
          </a:xfrm>
          <a:prstGeom prst="rightArrow">
            <a:avLst/>
          </a:prstGeom>
          <a:solidFill>
            <a:srgbClr val="13C4A3"/>
          </a:solidFill>
          <a:ln/>
        </p:spPr>
      </p:sp>
      <p:sp>
        <p:nvSpPr>
          <p:cNvPr id="10" name="Shape 7"/>
          <p:cNvSpPr/>
          <p:nvPr/>
        </p:nvSpPr>
        <p:spPr>
          <a:xfrm>
            <a:off x="2823210" y="2103120"/>
            <a:ext cx="1965960" cy="2377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86150" y="237744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2" name="Image 1" descr="ppt_assets/icon_filter_13C4A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166" y="25054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1465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60370" y="35204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(60Hz) + bandpass (0.5-40Hz), per-channel z-score normalized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844720" y="3191256"/>
            <a:ext cx="197510" cy="201168"/>
          </a:xfrm>
          <a:prstGeom prst="rightArrow">
            <a:avLst/>
          </a:prstGeom>
          <a:solidFill>
            <a:srgbClr val="13C4A3"/>
          </a:solidFill>
          <a:ln/>
        </p:spPr>
      </p:sp>
      <p:sp>
        <p:nvSpPr>
          <p:cNvPr id="16" name="Shape 12"/>
          <p:cNvSpPr/>
          <p:nvPr/>
        </p:nvSpPr>
        <p:spPr>
          <a:xfrm>
            <a:off x="5097780" y="2103120"/>
            <a:ext cx="1965960" cy="2377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60720" y="237744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8" name="Image 2" descr="ppt_assets/icon_window_13C4A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50545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8922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34940" y="35204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 windows, 50% overlap, auto-labeled from clinical annotations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119290" y="3191256"/>
            <a:ext cx="197510" cy="201168"/>
          </a:xfrm>
          <a:prstGeom prst="rightArrow">
            <a:avLst/>
          </a:prstGeom>
          <a:solidFill>
            <a:srgbClr val="13C4A3"/>
          </a:solidFill>
          <a:ln/>
        </p:spPr>
      </p:sp>
      <p:sp>
        <p:nvSpPr>
          <p:cNvPr id="22" name="Shape 17"/>
          <p:cNvSpPr/>
          <p:nvPr/>
        </p:nvSpPr>
        <p:spPr>
          <a:xfrm>
            <a:off x="7372350" y="2103120"/>
            <a:ext cx="1965960" cy="2377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35290" y="237744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4" name="Image 3" descr="ppt_assets/icon_brain_13C4A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306" y="250545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6379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Model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09510" y="35204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convolutional network, PyTorch, oversampling for class imbalance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393860" y="3191256"/>
            <a:ext cx="197510" cy="201168"/>
          </a:xfrm>
          <a:prstGeom prst="rightArrow">
            <a:avLst/>
          </a:prstGeom>
          <a:solidFill>
            <a:srgbClr val="13C4A3"/>
          </a:solidFill>
          <a:ln/>
        </p:spPr>
      </p:sp>
      <p:sp>
        <p:nvSpPr>
          <p:cNvPr id="28" name="Shape 22"/>
          <p:cNvSpPr/>
          <p:nvPr/>
        </p:nvSpPr>
        <p:spPr>
          <a:xfrm>
            <a:off x="9646920" y="2103120"/>
            <a:ext cx="1965960" cy="2377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309860" y="237744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0" name="Image 4" descr="ppt_assets/icon_eye_13C4A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7876" y="2505456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3836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784080" y="35204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Per-window channel importance — the explainability layer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was engineered from scratch in PyTorch — every arrow above represents real, working code in the repository.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problems caught and fixed — not a clean first try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081A33"/>
          </a:solidFill>
          <a:ln w="9525">
            <a:solidFill>
              <a:srgbClr val="8DA9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ppt_assets/icon_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682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2860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Out-of-memory crashes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175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31927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all EDF files at once needed 15GB+ RAM — crashed the machine twice.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5720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87375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streaming to disk + memory-mapped arrays. Only the active batch ever sits in RAM.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19659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081A33"/>
          </a:solidFill>
          <a:ln w="9525">
            <a:solidFill>
              <a:srgbClr val="8DA9C4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224028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4" name="Image 1" descr="ppt_assets/icon_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36829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69480" y="22860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leakage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30175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331927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window-level train/test split let near-duplicate overlapping windows leak across the split — inflated F1 to an untrustworthy 0.98.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45720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487375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whole file/recording instead. Test data now comes from files the model never saw.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1D convolutional network, built stage by stage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2377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1580" y="237744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pt_assets/icon_wave_13C4A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596" y="25054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 Block 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5204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Conv1D(32, k=7) + BatchNorm + ReLU + MaxPool(4)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70150" y="3191256"/>
            <a:ext cx="197510" cy="201168"/>
          </a:xfrm>
          <a:prstGeom prst="rightArrow">
            <a:avLst/>
          </a:prstGeom>
          <a:solidFill>
            <a:srgbClr val="13C4A3"/>
          </a:solidFill>
          <a:ln/>
        </p:spPr>
      </p:sp>
      <p:sp>
        <p:nvSpPr>
          <p:cNvPr id="10" name="Shape 7"/>
          <p:cNvSpPr/>
          <p:nvPr/>
        </p:nvSpPr>
        <p:spPr>
          <a:xfrm>
            <a:off x="2823210" y="2103120"/>
            <a:ext cx="1965960" cy="2377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86150" y="237744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2" name="Image 1" descr="ppt_assets/icon_filter_13C4A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166" y="25054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1465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 Block 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60370" y="35204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Conv1D(64, k=5) + BatchNorm + ReLU + MaxPool(4)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844720" y="3191256"/>
            <a:ext cx="197510" cy="201168"/>
          </a:xfrm>
          <a:prstGeom prst="rightArrow">
            <a:avLst/>
          </a:prstGeom>
          <a:solidFill>
            <a:srgbClr val="13C4A3"/>
          </a:solidFill>
          <a:ln/>
        </p:spPr>
      </p:sp>
      <p:sp>
        <p:nvSpPr>
          <p:cNvPr id="16" name="Shape 12"/>
          <p:cNvSpPr/>
          <p:nvPr/>
        </p:nvSpPr>
        <p:spPr>
          <a:xfrm>
            <a:off x="5097780" y="2103120"/>
            <a:ext cx="1965960" cy="2377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60720" y="237744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8" name="Image 2" descr="ppt_assets/icon_window_13C4A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50545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8922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 Block 3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34940" y="35204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Conv1D(128, k=3) + BatchNorm + ReLU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119290" y="3191256"/>
            <a:ext cx="197510" cy="201168"/>
          </a:xfrm>
          <a:prstGeom prst="rightArrow">
            <a:avLst/>
          </a:prstGeom>
          <a:solidFill>
            <a:srgbClr val="13C4A3"/>
          </a:solidFill>
          <a:ln/>
        </p:spPr>
      </p:sp>
      <p:sp>
        <p:nvSpPr>
          <p:cNvPr id="22" name="Shape 17"/>
          <p:cNvSpPr/>
          <p:nvPr/>
        </p:nvSpPr>
        <p:spPr>
          <a:xfrm>
            <a:off x="7372350" y="2103120"/>
            <a:ext cx="1965960" cy="2377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35290" y="237744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4" name="Image 3" descr="ppt_assets/icon_brain_13C4A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306" y="250545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6379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Pool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09510" y="35204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AdaptiveAvgPool1d — collapses the time axis to one value per feature map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393860" y="3191256"/>
            <a:ext cx="197510" cy="201168"/>
          </a:xfrm>
          <a:prstGeom prst="rightArrow">
            <a:avLst/>
          </a:prstGeom>
          <a:solidFill>
            <a:srgbClr val="13C4A3"/>
          </a:solidFill>
          <a:ln/>
        </p:spPr>
      </p:sp>
      <p:sp>
        <p:nvSpPr>
          <p:cNvPr id="28" name="Shape 22"/>
          <p:cNvSpPr/>
          <p:nvPr/>
        </p:nvSpPr>
        <p:spPr>
          <a:xfrm>
            <a:off x="9646920" y="2103120"/>
            <a:ext cx="1965960" cy="237744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309860" y="2377440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0" name="Image 4" descr="ppt_assets/icon_eye_13C4A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7876" y="2505456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3836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 Head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784080" y="35204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Linear(128→64) + Dropout(0.3) + Linear(64→1) — outputs one seizure logit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23 channels × 512 samples (4s @ 128Hz, z-score normalized). Output: one logit → sigmoid → seizure probability.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Leak-free performance across 5 patients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files/patients never seen during training — file-level split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081A33"/>
          </a:solidFill>
          <a:ln w="12700">
            <a:solidFill>
              <a:srgbClr val="13C4A3">
                <a:alpha val="6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C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196596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081A33"/>
          </a:solidFill>
          <a:ln w="12700">
            <a:solidFill>
              <a:srgbClr val="13C4A3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21031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C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196596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081A33"/>
          </a:solidFill>
          <a:ln w="12700">
            <a:solidFill>
              <a:srgbClr val="13C4A3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21031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C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196596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081A33"/>
          </a:solidFill>
          <a:ln w="15875">
            <a:solidFill>
              <a:srgbClr val="0E8F7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92440" y="20756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89,257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253288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25712" y="196596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081A33"/>
          </a:solidFill>
          <a:ln w="15875">
            <a:solidFill>
              <a:srgbClr val="C97A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25712" y="20756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25712" y="253288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2440" y="2999232"/>
            <a:ext cx="960120" cy="960120"/>
          </a:xfrm>
          <a:prstGeom prst="roundRect">
            <a:avLst>
              <a:gd name="adj" fmla="val 5714"/>
            </a:avLst>
          </a:prstGeom>
          <a:solidFill>
            <a:srgbClr val="081A33"/>
          </a:solidFill>
          <a:ln w="15875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92440" y="3108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35661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25712" y="2999232"/>
            <a:ext cx="960120" cy="960120"/>
          </a:xfrm>
          <a:prstGeom prst="roundRect">
            <a:avLst>
              <a:gd name="adj" fmla="val 5714"/>
            </a:avLst>
          </a:prstGeom>
          <a:solidFill>
            <a:srgbClr val="081A33"/>
          </a:solidFill>
          <a:ln w="15875">
            <a:solidFill>
              <a:srgbClr val="0E8F7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25712" y="31089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125712" y="35661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actual  •  Columns: predicted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11064240" cy="0"/>
          </a:xfrm>
          <a:prstGeom prst="line">
            <a:avLst/>
          </a:prstGeom>
          <a:noFill/>
          <a:ln w="9525">
            <a:solidFill>
              <a:srgbClr val="8DA9C4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206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context: the ScienceDirect 2024 reference paper (explainable hybrid DNN on CHB-MIT) reports ~94% F1. This baseline, on 5 of 23 subjects, sits in a comparable, credible range — a strong foundation, not yet the final word.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22 missed seizures and 32 false alarms out of 89,489 test windows — with zero patient overlap between train and test.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— THE CORE CONTRIBUTION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shows which electrodes drove each prediction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093976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pic>
        <p:nvPicPr>
          <p:cNvPr id="5" name="Image 0" descr="ppt_assets/shap_h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3337560" cy="1408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30540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detected seizure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355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probability: 1.00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97680" y="1508760"/>
            <a:ext cx="3520440" cy="2093976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pic>
        <p:nvPicPr>
          <p:cNvPr id="9" name="Image 1" descr="ppt_assets/shap_mi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00200"/>
            <a:ext cx="3337560" cy="1408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434840" y="30540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seizure (false negative)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434840" y="3355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probability: 0.00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46720" y="1508760"/>
            <a:ext cx="3520440" cy="2093976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pic>
        <p:nvPicPr>
          <p:cNvPr id="13" name="Image 2" descr="ppt_assets/shap_norm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00200"/>
            <a:ext cx="3337560" cy="1408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83880" y="30540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non-seizure window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183880" y="3355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probability: 0.00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4160520"/>
            <a:ext cx="11064240" cy="0"/>
          </a:xfrm>
          <a:prstGeom prst="line">
            <a:avLst/>
          </a:prstGeom>
          <a:noFill/>
          <a:ln w="9525">
            <a:solidFill>
              <a:srgbClr val="8DA9C4">
                <a:alpha val="4000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48640" y="44348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chart ranks all 23 EEG channels by how much they contributed to that specific prediction (SHAP GradientExplainer). Unlike a plain “seizure detected” alert, a clinician can see exactly which electrodes and moments drove the model's decision — including when it gets it wrong.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inclusion of a missed seizure (center) — this project reports real failure cases, not only successes.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12161520" cy="0"/>
          </a:xfrm>
          <a:prstGeom prst="line">
            <a:avLst/>
          </a:prstGeom>
          <a:noFill/>
          <a:ln w="12700">
            <a:solidFill>
              <a:srgbClr val="13C4A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12161520" cy="0"/>
          </a:xfrm>
          <a:prstGeom prst="line">
            <a:avLst/>
          </a:prstGeom>
          <a:noFill/>
          <a:ln w="12700">
            <a:solidFill>
              <a:srgbClr val="13C4A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21024"/>
            <a:ext cx="12161520" cy="0"/>
          </a:xfrm>
          <a:prstGeom prst="line">
            <a:avLst/>
          </a:prstGeom>
          <a:noFill/>
          <a:ln w="12700">
            <a:solidFill>
              <a:srgbClr val="13C4A3">
                <a:alpha val="14000"/>
              </a:srgbClr>
            </a:solidFill>
            <a:prstDash val="solid"/>
          </a:ln>
        </p:spPr>
      </p:sp>
      <p:pic>
        <p:nvPicPr>
          <p:cNvPr id="5" name="Image 0" descr="ppt_assets/icon_brain_13C4A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4630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56616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0" y="43434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including about what broke along the way.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github.com/VivekA28/epilepsy-seizure-detection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EXPLAINABILITY, CROSS-VALIDATED WITH LIME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second, independent method — LIME — was added to check SHAP's story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093976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pic>
        <p:nvPicPr>
          <p:cNvPr id="5" name="Image 0" descr="ppt_assets/shap_h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3337560" cy="1408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30540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detected seizure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355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probability: 1.00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97680" y="1508760"/>
            <a:ext cx="3520440" cy="2093976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pic>
        <p:nvPicPr>
          <p:cNvPr id="9" name="Image 1" descr="ppt_assets/shap_mi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00200"/>
            <a:ext cx="3337560" cy="1408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434840" y="30540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seizure (false negative)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434840" y="3355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probability: 0.00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46720" y="1508760"/>
            <a:ext cx="3520440" cy="2093976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9525">
            <a:solidFill>
              <a:srgbClr val="8DA9C4">
                <a:alpha val="45000"/>
              </a:srgbClr>
            </a:solidFill>
            <a:prstDash val="solid"/>
          </a:ln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pic>
        <p:nvPicPr>
          <p:cNvPr id="13" name="Image 2" descr="ppt_assets/shap_norm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00200"/>
            <a:ext cx="3337560" cy="1408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83880" y="30540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non-seizure window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183880" y="33558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probability: 0.00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4160520"/>
            <a:ext cx="11064240" cy="0"/>
          </a:xfrm>
          <a:prstGeom prst="line">
            <a:avLst/>
          </a:prstGeom>
          <a:noFill/>
          <a:ln w="9525">
            <a:solidFill>
              <a:srgbClr val="8DA9C4">
                <a:alpha val="4000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48640" y="44348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was implemented from scratch (no off-the-shelf time-series LIME exists): each window is segmented into channel × time-block regions, randomly masked, and a local surrogate model is fit to the real model's output to recover per-region importance — independent of how SHAP computes its scores.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and LIME independently agree on the top-ranked channel across every sampled seizure window — two unrelated methods converging is stronger evidence than either alone.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2026-09-08T22:38:05Z</dcterms:created>
  <dcterms:modified xsi:type="dcterms:W3CDTF">2026-09-08T22:38:05Z</dcterms:modified>
</cp:coreProperties>
</file>